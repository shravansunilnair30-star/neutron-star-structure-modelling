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Structure of Neutron Stars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A computational model of relativistic hydrostatic equilibrium</a:t>
            </a:r>
          </a:p>
          <a:p>
            <a:pPr>
              <a:spcAft>
                <a:spcPts val="1600"/>
              </a:spcAft>
              <a:defRPr sz="2100"/>
            </a:pPr>
            <a:r>
              <a:t>Method: Tolman–Oppenheimer–Volkoff (TOV) equations</a:t>
            </a:r>
          </a:p>
          <a:p>
            <a:pPr>
              <a:spcAft>
                <a:spcPts val="1600"/>
              </a:spcAft>
              <a:defRPr sz="2100"/>
            </a:pPr>
            <a:r>
              <a:t>Tools: Python, NumPy, SciPy and Matplotlib</a:t>
            </a:r>
          </a:p>
          <a:p>
            <a:pPr>
              <a:spcAft>
                <a:spcPts val="1600"/>
              </a:spcAft>
              <a:defRPr sz="2100"/>
            </a:pPr>
            <a:r>
              <a:t>Scope: educational polytropic EOS; not a precision astrophysical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How does central pressure affect a model neutron star's mass and radius?</a:t>
            </a:r>
          </a:p>
          <a:p>
            <a:pPr>
              <a:spcAft>
                <a:spcPts val="1600"/>
              </a:spcAft>
              <a:defRPr sz="2100"/>
            </a:pPr>
            <a:r>
              <a:t>Why use general relativity? Gravity is too strong for a Newtonian hydrostatic model to be adequate.</a:t>
            </a:r>
          </a:p>
          <a:p>
            <a:pPr>
              <a:spcAft>
                <a:spcPts val="1600"/>
              </a:spcAft>
              <a:defRPr sz="2100"/>
            </a:pPr>
            <a:r>
              <a:t>Output: a mass–radius curve across a sequence of central pressures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Physics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Mass equation: dm/dr = 4πr² ε/c²</a:t>
            </a:r>
          </a:p>
          <a:p>
            <a:pPr>
              <a:spcAft>
                <a:spcPts val="1600"/>
              </a:spcAft>
              <a:defRPr sz="2100"/>
            </a:pPr>
            <a:r>
              <a:t>TOV pressure equation includes relativistic pressure and spacetime-curvature terms</a:t>
            </a:r>
          </a:p>
          <a:p>
            <a:pPr>
              <a:spcAft>
                <a:spcPts val="1600"/>
              </a:spcAft>
              <a:defRPr sz="2100"/>
            </a:pPr>
            <a:r>
              <a:t>Equation of state: P = Kρ₀^Γ; ε = ρ₀c² + P/(Γ−1)</a:t>
            </a:r>
          </a:p>
          <a:p>
            <a:pPr>
              <a:spcAft>
                <a:spcPts val="1600"/>
              </a:spcAft>
              <a:defRPr sz="2100"/>
            </a:pPr>
            <a:r>
              <a:t>Assumptions: static, spherical, non-rotating star; isotropic pressure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Numerical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Choose central pressure and infer central density from the EOS</a:t>
            </a:r>
          </a:p>
          <a:p>
            <a:pPr>
              <a:spcAft>
                <a:spcPts val="1600"/>
              </a:spcAft>
              <a:defRPr sz="2100"/>
            </a:pPr>
            <a:r>
              <a:t>Integrate coupled ODEs outward using SciPy solve_ivp</a:t>
            </a:r>
          </a:p>
          <a:p>
            <a:pPr>
              <a:spcAft>
                <a:spcPts val="1600"/>
              </a:spcAft>
              <a:defRPr sz="2100"/>
            </a:pPr>
            <a:r>
              <a:t>Stop at the surface where pressure reaches zero</a:t>
            </a:r>
          </a:p>
          <a:p>
            <a:pPr>
              <a:spcAft>
                <a:spcPts val="1600"/>
              </a:spcAft>
              <a:defRPr sz="2100"/>
            </a:pPr>
            <a:r>
              <a:t>Record radius and enclosed mass; repeat over a pressure 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Baseline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The current toy-EOS run found a maximum sampled mass of about 1.357 M☉</a:t>
            </a:r>
          </a:p>
          <a:p>
            <a:pPr>
              <a:spcAft>
                <a:spcPts val="1600"/>
              </a:spcAft>
              <a:defRPr sz="2100"/>
            </a:pPr>
            <a:r>
              <a:t>Radius at that sampled point: about 9.314 km</a:t>
            </a:r>
          </a:p>
          <a:p>
            <a:pPr>
              <a:spcAft>
                <a:spcPts val="1600"/>
              </a:spcAft>
              <a:defRPr sz="2100"/>
            </a:pPr>
            <a:r>
              <a:t>These values belong only to the selected simplified EOS</a:t>
            </a:r>
          </a:p>
          <a:p>
            <a:pPr>
              <a:spcAft>
                <a:spcPts val="1600"/>
              </a:spcAft>
              <a:defRPr sz="2100"/>
            </a:pPr>
            <a:r>
              <a:t>Do not present them as a validated prediction for real neutron stars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Numerical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Compare baseline solver settings with tighter relative tolerance</a:t>
            </a:r>
          </a:p>
          <a:p>
            <a:pPr>
              <a:spcAft>
                <a:spcPts val="1600"/>
              </a:spcAft>
              <a:defRPr sz="2100"/>
            </a:pPr>
            <a:r>
              <a:t>Reduce maximum radial step and compare mass/radius</a:t>
            </a:r>
          </a:p>
          <a:p>
            <a:pPr>
              <a:spcAft>
                <a:spcPts val="1600"/>
              </a:spcAft>
              <a:defRPr sz="2100"/>
            </a:pPr>
            <a:r>
              <a:t>Increase central-pressure grid density to test whether the sampled peak shifts</a:t>
            </a:r>
          </a:p>
          <a:p>
            <a:pPr>
              <a:spcAft>
                <a:spcPts val="1600"/>
              </a:spcAft>
              <a:defRPr sz="2100"/>
            </a:pPr>
            <a:r>
              <a:t>Numerical convergence does not establish physical accuracy of the EOS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Research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Published work solves the TOV equations for specified equations of state</a:t>
            </a:r>
          </a:p>
          <a:p>
            <a:pPr>
              <a:spcAft>
                <a:spcPts val="1600"/>
              </a:spcAft>
              <a:defRPr sz="2100"/>
            </a:pPr>
            <a:r>
              <a:t>Cai &amp; Li (2025) review TOV scaling and EOS dependence</a:t>
            </a:r>
          </a:p>
          <a:p>
            <a:pPr>
              <a:spcAft>
                <a:spcPts val="1600"/>
              </a:spcAft>
              <a:defRPr sz="2100"/>
            </a:pPr>
            <a:r>
              <a:t>Godani &amp; Samanta (2024) study polytropic neutron-star models</a:t>
            </a:r>
          </a:p>
          <a:p>
            <a:pPr>
              <a:spcAft>
                <a:spcPts val="1600"/>
              </a:spcAft>
              <a:defRPr sz="2100"/>
            </a:pPr>
            <a:r>
              <a:t>A fair numerical comparison requires matching EOS, units and model parameters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Current EOS is a simplified educational polytrope</a:t>
            </a:r>
          </a:p>
          <a:p>
            <a:pPr>
              <a:spcAft>
                <a:spcPts val="1600"/>
              </a:spcAft>
              <a:defRPr sz="2100"/>
            </a:pPr>
            <a:r>
              <a:t>Use a published tabulated EOS for stronger physical comparison</a:t>
            </a:r>
          </a:p>
          <a:p>
            <a:pPr>
              <a:spcAft>
                <a:spcPts val="1600"/>
              </a:spcAft>
              <a:defRPr sz="2100"/>
            </a:pPr>
            <a:r>
              <a:t>Document convergence values and grid sensitivity from the generated CSV</a:t>
            </a:r>
          </a:p>
          <a:p>
            <a:pPr>
              <a:spcAft>
                <a:spcPts val="1600"/>
              </a:spcAft>
              <a:defRPr sz="2100"/>
            </a:pPr>
            <a:r>
              <a:t>Explain assumptions and limitations clearly in the final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Implemented a reproducible TOV integration workflow</a:t>
            </a:r>
          </a:p>
          <a:p>
            <a:pPr>
              <a:spcAft>
                <a:spcPts val="1600"/>
              </a:spcAft>
              <a:defRPr sz="2100"/>
            </a:pPr>
            <a:r>
              <a:t>Generated mass–radius data and a plot</a:t>
            </a:r>
          </a:p>
          <a:p>
            <a:pPr>
              <a:spcAft>
                <a:spcPts val="1600"/>
              </a:spcAft>
              <a:defRPr sz="2100"/>
            </a:pPr>
            <a:r>
              <a:t>Added numerical sensitivity checks and a research-comparison framework</a:t>
            </a:r>
          </a:p>
          <a:p>
            <a:pPr>
              <a:spcAft>
                <a:spcPts val="1600"/>
              </a:spcAft>
              <a:defRPr sz="2100"/>
            </a:pPr>
            <a:r>
              <a:t>Main lesson: results depend on both numerical choices and the equation of state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Questions to prepare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/>
            </a:pPr>
            <a:r>
              <a:t>What do the two TOV equations calculate?</a:t>
            </a:r>
          </a:p>
          <a:p>
            <a:pPr>
              <a:spcAft>
                <a:spcPts val="1600"/>
              </a:spcAft>
              <a:defRPr sz="2100"/>
            </a:pPr>
            <a:r>
              <a:t>Why is an equation of state needed?</a:t>
            </a:r>
          </a:p>
          <a:p>
            <a:pPr>
              <a:spcAft>
                <a:spcPts val="1600"/>
              </a:spcAft>
              <a:defRPr sz="2100"/>
            </a:pPr>
            <a:r>
              <a:t>What does the surface condition P(R)=0 mean?</a:t>
            </a:r>
          </a:p>
          <a:p>
            <a:pPr>
              <a:spcAft>
                <a:spcPts val="1600"/>
              </a:spcAft>
              <a:defRPr sz="2100"/>
            </a:pPr>
            <a:r>
              <a:t>What did the convergence tests show, and what do they not prove?</a:t>
            </a:r>
          </a:p>
          <a:p>
            <a:pPr>
              <a:spcAft>
                <a:spcPts val="1600"/>
              </a:spcAft>
              <a:defRPr sz="2100"/>
            </a:pPr>
            <a:r>
              <a:t>Why is the current EOS insufficient for a precision prediction?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SLy EOS: literature-calibrated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Added a second TOV solver using the SLy piecewise-polytropic parameters from Read et al. (2009).</a:t>
            </a:r>
          </a:p>
          <a:p>
            <a:pPr>
              <a:defRPr sz="2000"/>
            </a:pPr>
            <a:r>
              <a:t>Parameters: log10(p1 [dyn/cm²]) = 34.384; Γ1 = 3.005, Γ2 = 2.988, Γ3 = 2.851.</a:t>
            </a:r>
          </a:p>
          <a:p>
            <a:pPr>
              <a:defRPr sz="2000"/>
            </a:pPr>
            <a:r>
              <a:t>The low-density crust is a matched polytropic continuation, not the original tabulated SLy4 crust.</a:t>
            </a:r>
          </a:p>
          <a:p>
            <a:pPr>
              <a:defRPr sz="2000"/>
            </a:pPr>
            <a:r>
              <a:t>All 70 central-pressure models integrated successfully.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Causal SLy approximation: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Physical validation script completed for the causal branch of the Read et al. SLy piecewise-polytrope.</a:t>
            </a:r>
          </a:p>
          <a:p>
            <a:r>
              <a:t>Causal-boundary solution: M = 2.0462668 M☉; R = 9.982195 km.</a:t>
            </a:r>
          </a:p>
          <a:p>
            <a:r>
              <a:t>Interpolated R₁.₄ = 11.754450 km.</a:t>
            </a:r>
          </a:p>
          <a:p>
            <a:r>
              <a:t>Against rounded CompOSE RG(SLY4) reference values (2.06 M☉, 10.02 km, 11.7 km), differences are −0.667%, −0.377%, and +0.465%.</a:t>
            </a:r>
          </a:p>
          <a:p>
            <a:r>
              <a:t>These are cross-model checks; the analytic fit is not identical to the tabulated EOS.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validation: what passed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analytic EOS sound-speed check was evaluated over the full stellar interior for the reported causal branch.</a:t>
            </a:r>
          </a:p>
          <a:p>
            <a:r>
              <a:t>Maximum interior cₛ²/c² = 0.9999999702, just below the causal bound.</a:t>
            </a:r>
          </a:p>
          <a:p>
            <a:r>
              <a:t>Four solver tolerance / step-size configurations changed mass by at most 8.01 × 10⁻⁷% and radius by 2.46 × 10⁻⁵%.</a:t>
            </a:r>
          </a:p>
          <a:p>
            <a:r>
              <a:t>Causality, numerical sensitivity and scalar-reference comparison pass for the analytic approximation.</a:t>
            </a:r>
          </a:p>
          <a:p>
            <a:r>
              <a:t>This does not yet validate the separate table-driven CompOSE solver.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Tabulated EOS validation: still pending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official cold RG(SLY4) CompOSE table is available at compose.obspm.fr/eos/134.</a:t>
            </a:r>
          </a:p>
          <a:p>
            <a:r>
              <a:t>The local environment could not access the raw eos.thermo and eos.nb data bytes, so the table-driven solver has not been run end-to-end.</a:t>
            </a:r>
          </a:p>
          <a:p>
            <a:r>
              <a:t>To complete this separate stage, obtain the official files, run neutron_star_compose.py, and inspect the EOS causality curve, surface extrapolation sensitivity and mass-radius comparison.</a:t>
            </a:r>
          </a:p>
          <a:p>
            <a:r>
              <a:t>Do not claim an exact tabulated-SLy4 reproduction until those checks pass.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